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Art1"/>
          <p:cNvSpPr/>
          <p:nvPr/>
        </p:nvSpPr>
        <p:spPr>
          <a:xfrm rot="1080000">
            <a:off x="7772400" y="-1828800"/>
            <a:ext cx="6858000" cy="105156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Art2"/>
          <p:cNvSpPr/>
          <p:nvPr/>
        </p:nvSpPr>
        <p:spPr>
          <a:xfrm rot="1080000">
            <a:off x="8686800" y="-914400"/>
            <a:ext cx="5486400" cy="96012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AccentBar"/>
          <p:cNvSpPr/>
          <p:nvPr/>
        </p:nvSpPr>
        <p:spPr>
          <a:xfrm>
            <a:off x="457200" y="219456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Kicker"/>
          <p:cNvSpPr txBox="1"/>
          <p:nvPr/>
        </p:nvSpPr>
        <p:spPr>
          <a:xfrm>
            <a:off x="457200" y="1554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SOFTWARE DESIGN PRESENTATION</a:t>
            </a:r>
          </a:p>
        </p:txBody>
      </p:sp>
      <p:sp>
        <p:nvSpPr>
          <p:cNvPr id="7" name="TitleMain"/>
          <p:cNvSpPr txBox="1"/>
          <p:nvPr/>
        </p:nvSpPr>
        <p:spPr>
          <a:xfrm>
            <a:off x="457200" y="2331720"/>
            <a:ext cx="8686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8" name="TitleSubtitle"/>
          <p:cNvSpPr txBox="1"/>
          <p:nvPr/>
        </p:nvSpPr>
        <p:spPr>
          <a:xfrm>
            <a:off x="457200" y="438912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B81C"/>
                </a:solidFill>
                <a:latin typeface="Calibri"/>
              </a:rPr>
              <a:t>SRS  /  SDD  /  System Design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BD5E1"/>
                </a:solidFill>
                <a:latin typeface="Calibri"/>
              </a:rPr>
              <a:t>An industrial raw-material marketplace for metals and commodities — verified buyers and sellers, auctions, KYC, settlement, and dispute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2697480" cy="640080"/>
          </a:xfrm>
          <a:prstGeom prst="roundRect">
            <a:avLst>
              <a:gd name="adj" fmla="val 20000"/>
            </a:avLst>
          </a:prstGeom>
          <a:solidFill>
            <a:srgbClr val="122E4D"/>
          </a:solidFill>
          <a:ln w="6350">
            <a:solidFill>
              <a:srgbClr val="FFB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B81C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9963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.NET Core 10 Web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5943600"/>
            <a:ext cx="2697480" cy="640080"/>
          </a:xfrm>
          <a:prstGeom prst="roundRect">
            <a:avLst>
              <a:gd name="adj" fmla="val 20000"/>
            </a:avLst>
          </a:prstGeom>
          <a:solidFill>
            <a:srgbClr val="122E4D"/>
          </a:solidFill>
          <a:ln w="6350">
            <a:solidFill>
              <a:srgbClr val="FFB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598932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B81C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619963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React.js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943600"/>
            <a:ext cx="2697480" cy="640080"/>
          </a:xfrm>
          <a:prstGeom prst="roundRect">
            <a:avLst>
              <a:gd name="adj" fmla="val 20000"/>
            </a:avLst>
          </a:prstGeom>
          <a:solidFill>
            <a:srgbClr val="122E4D"/>
          </a:solidFill>
          <a:ln w="6350">
            <a:solidFill>
              <a:srgbClr val="FFB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5989320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B81C"/>
                </a:solidFill>
                <a:latin typeface="Calibri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619963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SQL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035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FB81C"/>
                </a:solidFill>
                <a:latin typeface="Calibri"/>
              </a:rPr>
              <a:t>Prepared by  ·  Reza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3093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Version 0.01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Agenda  ·  Document map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02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AGENDA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What we'll cover today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Three connected documents, one platform: scope, design and system architecture.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3749039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3749039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42032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B81C"/>
                </a:solidFill>
                <a:latin typeface="Calibri"/>
              </a:rPr>
              <a:t>PART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32003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A2540"/>
                </a:solidFill>
                <a:latin typeface="Calibri"/>
              </a:rPr>
              <a:t>Project Scope and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320039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A6C7D"/>
                </a:solidFill>
                <a:latin typeface="Calibri"/>
              </a:rPr>
              <a:t>Problem statement, stakeholders, functional and non-functional requirements, domain model, sequence and state diagrams, technologies, project plan.</a:t>
            </a:r>
          </a:p>
        </p:txBody>
      </p:sp>
      <p:sp>
        <p:nvSpPr>
          <p:cNvPr id="19" name="Oval 18"/>
          <p:cNvSpPr/>
          <p:nvPr/>
        </p:nvSpPr>
        <p:spPr>
          <a:xfrm>
            <a:off x="3428999" y="5440679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8999" y="54406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B81C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7" y="2468880"/>
            <a:ext cx="3749039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7" y="2468880"/>
            <a:ext cx="3749039" cy="4572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7" y="2542032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B81C"/>
                </a:solidFill>
                <a:latin typeface="Calibri"/>
              </a:rPr>
              <a:t>PART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7" y="3108960"/>
            <a:ext cx="32003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A2540"/>
                </a:solidFill>
                <a:latin typeface="Calibri"/>
              </a:rPr>
              <a:t>Software Design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7" y="4160520"/>
            <a:ext cx="320039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A6C7D"/>
                </a:solidFill>
                <a:latin typeface="Calibri"/>
              </a:rPr>
              <a:t>Modularization into subsystems, CRC cards, MVC design views, full sequence and state machines, database schema and updated technology stack.</a:t>
            </a:r>
          </a:p>
        </p:txBody>
      </p:sp>
      <p:sp>
        <p:nvSpPr>
          <p:cNvPr id="26" name="Oval 25"/>
          <p:cNvSpPr/>
          <p:nvPr/>
        </p:nvSpPr>
        <p:spPr>
          <a:xfrm>
            <a:off x="7287766" y="5440679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7766" y="54406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B81C"/>
                </a:solidFill>
                <a:latin typeface="Calibri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74734" y="2468880"/>
            <a:ext cx="3749039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4" y="2468880"/>
            <a:ext cx="3749039" cy="4572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9054" y="2542032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PART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4" y="3108960"/>
            <a:ext cx="32003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A2540"/>
                </a:solidFill>
                <a:latin typeface="Calibri"/>
              </a:rPr>
              <a:t>System Design Document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4" y="4160520"/>
            <a:ext cx="320039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A6C7D"/>
                </a:solidFill>
                <a:latin typeface="Calibri"/>
              </a:rPr>
              <a:t>Software design patterns, UI/UX design, deployment diagram, business rules, API endpoints and the consolidated project Gantt chart.</a:t>
            </a:r>
          </a:p>
        </p:txBody>
      </p:sp>
      <p:sp>
        <p:nvSpPr>
          <p:cNvPr id="33" name="Oval 32"/>
          <p:cNvSpPr/>
          <p:nvPr/>
        </p:nvSpPr>
        <p:spPr>
          <a:xfrm>
            <a:off x="11146533" y="5440679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46533" y="54406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B81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Project at a glance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03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SNAPSHOT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The platform at a glance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What the system does, who uses it and how it is built.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27889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889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USER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6324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7D"/>
                </a:solidFill>
                <a:latin typeface="Calibri"/>
              </a:rPr>
              <a:t>Buyer · Seller · Admin · Operator · Partner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5848" y="2606040"/>
            <a:ext cx="27889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27889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SUBSYSTEMS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06324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38862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7D"/>
                </a:solidFill>
                <a:latin typeface="Calibri"/>
              </a:rPr>
              <a:t>From KYC to Analytics &amp;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2606040"/>
            <a:ext cx="27889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27889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FUNCTIONAL REQS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06324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38862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7D"/>
                </a:solidFill>
                <a:latin typeface="Calibri"/>
              </a:rPr>
              <a:t>Across 7 capability areas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53144" y="2606040"/>
            <a:ext cx="27889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27889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COMMISSION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306324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5‰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38862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7D"/>
                </a:solidFill>
                <a:latin typeface="Calibri"/>
              </a:rPr>
              <a:t>Split 40% seller · 60% buyer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END-TO-END TRANSACTION FLOW</a:t>
            </a:r>
          </a:p>
        </p:txBody>
      </p:sp>
      <p:sp>
        <p:nvSpPr>
          <p:cNvPr id="31" name="Pentagon 30"/>
          <p:cNvSpPr/>
          <p:nvPr/>
        </p:nvSpPr>
        <p:spPr>
          <a:xfrm>
            <a:off x="457200" y="4983480"/>
            <a:ext cx="1409319" cy="594360"/>
          </a:xfrm>
          <a:prstGeom prst="homePlat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200">
                <a:solidFill>
                  <a:srgbClr val="FFB81C"/>
                </a:solidFill>
                <a:latin typeface="Calibri"/>
              </a:rPr>
              <a:t>Register &amp; KYC</a:t>
            </a:r>
          </a:p>
        </p:txBody>
      </p:sp>
      <p:sp>
        <p:nvSpPr>
          <p:cNvPr id="32" name="Pentagon 31"/>
          <p:cNvSpPr/>
          <p:nvPr/>
        </p:nvSpPr>
        <p:spPr>
          <a:xfrm>
            <a:off x="1866519" y="4983480"/>
            <a:ext cx="1409319" cy="594360"/>
          </a:xfrm>
          <a:prstGeom prst="homePlate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200">
                <a:solidFill>
                  <a:srgbClr val="FFB81C"/>
                </a:solidFill>
                <a:latin typeface="Calibri"/>
              </a:rPr>
              <a:t>Create Order</a:t>
            </a:r>
          </a:p>
        </p:txBody>
      </p:sp>
      <p:sp>
        <p:nvSpPr>
          <p:cNvPr id="33" name="Pentagon 32"/>
          <p:cNvSpPr/>
          <p:nvPr/>
        </p:nvSpPr>
        <p:spPr>
          <a:xfrm>
            <a:off x="3275838" y="4983480"/>
            <a:ext cx="1409319" cy="594360"/>
          </a:xfrm>
          <a:prstGeom prst="homePlat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200">
                <a:solidFill>
                  <a:srgbClr val="FFB81C"/>
                </a:solidFill>
                <a:latin typeface="Calibri"/>
              </a:rPr>
              <a:t>Auction &amp; Offers</a:t>
            </a:r>
          </a:p>
        </p:txBody>
      </p:sp>
      <p:sp>
        <p:nvSpPr>
          <p:cNvPr id="34" name="Pentagon 33"/>
          <p:cNvSpPr/>
          <p:nvPr/>
        </p:nvSpPr>
        <p:spPr>
          <a:xfrm>
            <a:off x="4685157" y="4983480"/>
            <a:ext cx="1409319" cy="594360"/>
          </a:xfrm>
          <a:prstGeom prst="homePlate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200">
                <a:solidFill>
                  <a:srgbClr val="FFB81C"/>
                </a:solidFill>
                <a:latin typeface="Calibri"/>
              </a:rPr>
              <a:t>Match</a:t>
            </a:r>
          </a:p>
        </p:txBody>
      </p:sp>
      <p:sp>
        <p:nvSpPr>
          <p:cNvPr id="35" name="Pentagon 34"/>
          <p:cNvSpPr/>
          <p:nvPr/>
        </p:nvSpPr>
        <p:spPr>
          <a:xfrm>
            <a:off x="6094476" y="4983480"/>
            <a:ext cx="1409319" cy="594360"/>
          </a:xfrm>
          <a:prstGeom prst="homePlat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200">
                <a:solidFill>
                  <a:srgbClr val="FFB81C"/>
                </a:solidFill>
                <a:latin typeface="Calibri"/>
              </a:rPr>
              <a:t>Commission</a:t>
            </a:r>
          </a:p>
        </p:txBody>
      </p:sp>
      <p:sp>
        <p:nvSpPr>
          <p:cNvPr id="36" name="Pentagon 35"/>
          <p:cNvSpPr/>
          <p:nvPr/>
        </p:nvSpPr>
        <p:spPr>
          <a:xfrm>
            <a:off x="7503795" y="4983480"/>
            <a:ext cx="1409319" cy="594360"/>
          </a:xfrm>
          <a:prstGeom prst="homePlate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200">
                <a:solidFill>
                  <a:srgbClr val="FFB81C"/>
                </a:solidFill>
                <a:latin typeface="Calibri"/>
              </a:rPr>
              <a:t>Settlement</a:t>
            </a:r>
          </a:p>
        </p:txBody>
      </p:sp>
      <p:sp>
        <p:nvSpPr>
          <p:cNvPr id="37" name="Pentagon 36"/>
          <p:cNvSpPr/>
          <p:nvPr/>
        </p:nvSpPr>
        <p:spPr>
          <a:xfrm>
            <a:off x="8913114" y="4983480"/>
            <a:ext cx="1409319" cy="594360"/>
          </a:xfrm>
          <a:prstGeom prst="homePlat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200">
                <a:solidFill>
                  <a:srgbClr val="FFB81C"/>
                </a:solidFill>
                <a:latin typeface="Calibri"/>
              </a:rPr>
              <a:t>Delivery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22433" y="4983480"/>
            <a:ext cx="1409319" cy="59436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200">
                <a:solidFill>
                  <a:srgbClr val="FFB81C"/>
                </a:solidFill>
                <a:latin typeface="Calibri"/>
              </a:rPr>
              <a:t>Grade &amp;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TECHNOLOGY STACK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080760"/>
            <a:ext cx="2432304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080760"/>
            <a:ext cx="24323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.NET Core 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80944" y="6080760"/>
            <a:ext cx="1773936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80944" y="6080760"/>
            <a:ext cx="1773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React.js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46320" y="6080760"/>
            <a:ext cx="2103120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608076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SQL Server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40880" y="6080760"/>
            <a:ext cx="1938528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6080760"/>
            <a:ext cx="1938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JWT + OTP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70848" y="6080760"/>
            <a:ext cx="3913631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70848" y="6080760"/>
            <a:ext cx="391363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Entity Framework Core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075919" y="6080760"/>
            <a:ext cx="2926079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075919" y="6080760"/>
            <a:ext cx="292607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Payment Gateway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093438" y="6080760"/>
            <a:ext cx="2761488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093438" y="6080760"/>
            <a:ext cx="2761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SMS / KYC APIs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Project Scope and Requirements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04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CONTEXT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Project Metadata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Core facts about the platform — scope, stack and ownership.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8455914"/>
              </a:tblGrid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81C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B81C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A2540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44"/>
                          </a:solidFill>
                          <a:latin typeface="Calibri"/>
                        </a:rPr>
                        <a:t>Industrial raw-material marketplace and trading platform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A2540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44"/>
                          </a:solidFill>
                          <a:latin typeface="Calibri"/>
                        </a:rPr>
                        <a:t>.NET Core 10 Web API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A2540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44"/>
                          </a:solidFill>
                          <a:latin typeface="Calibri"/>
                        </a:rPr>
                        <a:t>React.js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A254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44"/>
                          </a:solidFill>
                          <a:latin typeface="Calibri"/>
                        </a:rPr>
                        <a:t>SQL Server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A2540"/>
                          </a:solidFill>
                          <a:latin typeface="Calibri"/>
                        </a:rPr>
                        <a:t>Prepared By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44"/>
                          </a:solidFill>
                          <a:latin typeface="Calibri"/>
                        </a:rPr>
                        <a:t>Reza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A2540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44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ProjectLabel"/>
          <p:cNvSpPr txBox="1"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PROJECT  ·  RAW MATERIAL TRADING PLATFORM</a:t>
            </a:r>
          </a:p>
        </p:txBody>
      </p:sp>
      <p:sp>
        <p:nvSpPr>
          <p:cNvPr id="5" name="TitleKicker"/>
          <p:cNvSpPr txBox="1"/>
          <p:nvPr/>
        </p:nvSpPr>
        <p:spPr>
          <a:xfrm>
            <a:off x="457200" y="137160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81C"/>
                </a:solidFill>
                <a:latin typeface="Calibri"/>
              </a:rPr>
              <a:t>PART A</a:t>
            </a:r>
          </a:p>
        </p:txBody>
      </p:sp>
      <p:sp>
        <p:nvSpPr>
          <p:cNvPr id="6" name="TitleMain"/>
          <p:cNvSpPr txBox="1"/>
          <p:nvPr/>
        </p:nvSpPr>
        <p:spPr>
          <a:xfrm>
            <a:off x="457200" y="1874519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Project Scope and Requirements</a:t>
            </a:r>
          </a:p>
        </p:txBody>
      </p:sp>
      <p:sp>
        <p:nvSpPr>
          <p:cNvPr id="7" name="TitleAccentBar"/>
          <p:cNvSpPr/>
          <p:nvPr/>
        </p:nvSpPr>
        <p:spPr>
          <a:xfrm>
            <a:off x="457200" y="324612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Subtitle"/>
          <p:cNvSpPr txBox="1"/>
          <p:nvPr/>
        </p:nvSpPr>
        <p:spPr>
          <a:xfrm>
            <a:off x="457200" y="3383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CBD5E1"/>
                </a:solidFill>
                <a:latin typeface="Calibri"/>
              </a:rPr>
              <a:t>Problem statement, stakeholders, requirements, domain model, diagrams, technologies and the project timeline.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988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9204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9204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10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General Overview Modelling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218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Functional &amp; Non-Functional 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1500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733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Domain Class Diagram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48056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48056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4988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Entity Relationship Diagram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9204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89204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910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System Sequence Diagrams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30352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30352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218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Object State Machine Diagrams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71500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71500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733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Technologies &amp; Project Plan</a:t>
            </a:r>
          </a:p>
        </p:txBody>
      </p:sp>
      <p:sp>
        <p:nvSpPr>
          <p:cNvPr id="33" name="ChromeFooterRight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B81C"/>
                </a:solidFill>
                <a:latin typeface="Calibri"/>
              </a:rPr>
              <a:t>05  /  73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1. Problem Statement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06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1.1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Problem Domain &amp; Business Need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Why an industrial raw-material trading platform is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56235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73152" cy="36576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8036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81C"/>
                </a:solidFill>
                <a:latin typeface="Calibri"/>
              </a:rPr>
              <a:t>PROBLEM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49834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A44"/>
                </a:solidFill>
                <a:latin typeface="Calibri"/>
              </a:rPr>
              <a:t>A web-based industrial raw-material trading platform for metals and similar commodities. Verified buyers and sellers create buy and sell orders, submit offers, use auction-style matching, pay platform commissions and manage delivery, settlement, optional services and complaints when quality, quantity, delivery or payment problems occur.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06040"/>
            <a:ext cx="56235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06040"/>
            <a:ext cx="73152" cy="36576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81C"/>
                </a:solidFill>
                <a:latin typeface="Calibri"/>
              </a:rPr>
              <a:t>BUSINESS 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83280"/>
            <a:ext cx="49834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A44"/>
                </a:solidFill>
                <a:latin typeface="Calibri"/>
              </a:rPr>
              <a:t>Reduce trust problems in raw-material transactions involving high financial value, weight tolerance, quality claims, credit / LC payment terms and delivery delays. The platform adds KYC, seller and buyer grading, transaction logs, controlled messaging, operator supervision and digital workflows to make transactions transparent and safe.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1. Problem Statement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07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1.1.B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Platform Capabilities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End-to-end capabilities the platform delivers across the trade lifecycle.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1820"/>
                <a:gridCol w="8142732"/>
              </a:tblGrid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User registration and OTP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Individuals and companies register with mobile OTP and profile information.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KYC and role approval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Buyer and seller roles become active only after required verification and admin review.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Product catalogue &amp; technical forms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Copper cathode, copper wire, zinc ingot, aluminium ingot, brass sheet, scrap copper and similar items have product-specific forms.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Buy and sell order management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Approved buyers and sellers can create time-limited orders 24 hours a day.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Auction and offer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Open auction, dark auction, base-price options and price offers are supported.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Matching engine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Seller-initiated, buyer-initiated and automatic rule-based matching.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Commission and invoices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System commission invoices, proforma invoices, advance payment links and commission blocking rules.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Optional services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Inspection, transportation, insurance and warehousing service requests.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Complaint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Quality, quantity, delivery, document, fraud and payment complaints with formal workflow.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Grading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Buyer and seller grades from KYC, quality, delivery, financial, support and complaint metrics.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781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Analytics and 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Free prices, paid analysis and AI-based price prediction using FX, global metal prices and demand.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1. Problem Statement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08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1.1.B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Business Benefits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How the platform translates capabilities into value for the market.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8455914"/>
              </a:tblGrid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Benefit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Explanation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Trust and safety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KYC, grading and operator review reduce fake users and transaction fraud.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Pricing transparency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Users see selected market data, historical deals and auction activity based on access level.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Operational 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Order validity, matching windows, cancellation and penalty rules make the marketplace predictable.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Dispute reduction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Digital records, service partners, inspection reports and complaint workflows support evidence-based decisions.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Business growth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Premium analysis, paid access, golden user benefits and service commissions create revenue channels.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1. Problem Statement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09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1.2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Stakeholders &amp; Roles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Each stakeholder's role in the marketplace ecosystem.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890"/>
                <a:gridCol w="8524661"/>
              </a:tblGrid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Stakeholder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Role in the System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Buyer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Registers, completes KYC, creates buy orders, submits offers, pays commission, confirms settlement and delivery, submits complaints, rates sellers.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Registers, completes KYC, creates sell orders, receives offers, matches transactions, issues proforma invoice, confirms delivery, responds to complaints.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Admin / Operator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Approves KYC, approves brands, monitors trading board, helps with matching, handles claims, updates grades, manages blocking and penalties.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Service Partner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Provides inspection, logistics, insurance or warehousing support after buyer request.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Payment Gateway / Bank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Processes commission payments, payment links, deposits and payment confirmations.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KYC Provider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Provides OCR, face match, national code, legal entity and bank account matching services.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SMS Provider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Sends OTP, alerts, matching notifications, payment reminders and complaint updates.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Developers and QA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Build, test, maintain and deploy the React front end, .NET Core backend and SQL Server database.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1. Problem Statement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10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1.3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Functional Subsystems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Twelve cooperating subsystems form the complete platform.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8455914"/>
              </a:tblGrid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Subsystem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Main Responsibilities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Login and Registration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Account creation, OTP verification, login, logout, password reset, user profile.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KYC and Role Approval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Document upload, identity validation, legal entity verification, bank account matching, buyer/seller approval.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Product Catalogue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Product categories, brands, technical fields, packaging standards and product-specific order forms.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Trading Board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Display active buy/sell orders, order validity, quantity, conditions and status.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Offer and Auction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Open auction, dark auction, base price, credit/LC/presale visibility rules and offer history.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Matching Engine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Manual match, auto-match, partial match, remaining quantity, cancellation and expiry rules.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Payment and Commission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Commission calculation, invoices, advance payment, payment link, blocking on unpaid commission.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Delivery and Settlement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Settlement confirmation, delivery weight, bill of lading, delivery delay handling, final invoice.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Complaint / Claim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Complaint form, evidence collection, operator assignment, service partner reports, resolution, penalties.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Grading and Risk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Buyer/seller scoring, golden user status, restriction logic, fraud flags, periodic review.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Analytics and 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Price dashboards, analysis sales, AI price prediction and customer behaviour analytics.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Admin Dashboard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Approval queues, monitoring, reports, penalties, user management, platform settings.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1.4 Intended Users of the SRS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11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1.4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Who reads this SRS?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Five audiences use the same document for different decisions.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5623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73152" cy="1828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706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DEVELOPERS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.NET Core 10 backend APIs and matching services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React pages, components and routing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SQL Server schema and migrations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External integrations (KYC, SMS, payments)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06040"/>
            <a:ext cx="5623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06040"/>
            <a:ext cx="73152" cy="18288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7706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PROJECT MANAGERS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Define scope and acceptance criteria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Plan timeline and dependencies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Track milestones and deliverables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5623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73152" cy="18288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3659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BUSINESS / CLIENT REPS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Validate that requirements match the marketplace process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Confirm commission, KYC and matching rules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Sign off on acceptance criteria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572000"/>
            <a:ext cx="5623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572000"/>
            <a:ext cx="73152" cy="1828800"/>
          </a:xfrm>
          <a:prstGeom prst="rect">
            <a:avLst/>
          </a:prstGeom>
          <a:solidFill>
            <a:srgbClr val="2EA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73659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QA &amp; LEGAL / 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6636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Write acceptance and integration tests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Review platform rules, disclaimers and penalties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Verify complaint workflows and audit trails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2. General Overview Modelling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12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2.1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Context Flow Diagram (CFD)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External actors and data flows around the marketplace.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51760"/>
            <a:ext cx="7406640" cy="1848551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4591751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 — Context Flow Diagram for the Raw Material Trading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Buyers, sellers, admins, KYC and SMS providers, payment gateways and service partners surround the system.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Each external actor exchanges only the data it needs — KYC docs, OTPs, payments, inspection reports.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Audit trail captures every cross-boundary message for traceability.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2. General Overview Modelling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13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2.2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Use Case Diagram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Main use cases for the four primary platform users.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368" y="2651760"/>
            <a:ext cx="3632623" cy="324612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9893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2 — Main use cases for buyers, sellers, admins and operators.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Buyers register, complete KYC, post buy orders and submit offers.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Sellers create sell orders, match offers and confirm delivery.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Admins approve KYC, brands and complaints; operators monitor the trading board.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Use cases are bound by role — an unverified user cannot trade.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3. Requirements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14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Quality attributes the platform must satisfy.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332"/>
                <a:gridCol w="2332665"/>
                <a:gridCol w="7775553"/>
              </a:tblGrid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NFR#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NFR001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Trading board and order pages load within 3 seconds under normal traffic. Matching completes in near real time.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NFR002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All APIs require HTTPS, JWT authentication, RBAC, server-side validation and secure storage of sensitive data.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NFR003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Confidentiality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KYC documents, bank details, identity data and transaction details are accessible only to authorised users.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NFR004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Platform is available 24/7 for order submission while matching windows can be business-rule limited.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NFR005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Architecture supports increasing users, products, orders and notifications using scalable .NET services and SQL indexing.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NFR006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Auditability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KYC approvals, offer submission, matching, payments, penalties and complaint decisions are logged.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NFR007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Maintainability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Layered architecture, DTOs, services, repositories, dependency injection and unit tests.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NFR008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Usability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React pages are responsive, clear and simple for buyers, sellers, admins and operators.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NFR009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Interoperability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Integrates with SMS, KYC APIs, payment gateways, analysis APIs and future CRM systems.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34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NFR010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Disclaimers, risk statements, prohibited chat content and avoid conflict with commodity exchange obligations.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3.2 Functional Requirements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15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3.2.1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Login, Registration &amp; KYC — FRs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Functional requirements for user onboarding and identity verification.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73"/>
                <a:gridCol w="2405237"/>
                <a:gridCol w="2104583"/>
                <a:gridCol w="5261457"/>
              </a:tblGrid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FR#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Goal Use Case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Role Players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FR-KYC-01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Create Individual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Visitor,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Register with name, family name, national code, mobile, optional email, address and postal code.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FR-KYC-02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Create Company Account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Visitor,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Legal entity registers with company name, national ID, phones, address, activity type and warehouse postal code.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FR-KYC-03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Send and Verify OTP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System, SMS Provider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Send SMS OTP and validate the user mobile number before account activation.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FR-KYC-04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Complete KYC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Buyer/Seller,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Collect national card, selfie, company documents, representative authorisation and bank account details.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FR-KYC-05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Approve Buyer/Seller Role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Admin,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Admin approves buyer role, seller role or both. Seller approval may need operator contact and contract review.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FR-KYC-06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Bank Account Verification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System, KYC Provider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Verify that bank card or IBAN owner name matches the verified user or company identity.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FR-KYC-07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KYC Status Tracking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User,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Show statuses: pending, needs correction, rejected, approved. Provide reason when rejected or correction needed.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3.2 Functional Requirements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16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3.2.1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User Stories — Registration &amp; KYC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Three user-facing journeys that drive the KYC subsystem.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364937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3649370" cy="54864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USER STORY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310073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A2540"/>
                </a:solidFill>
                <a:latin typeface="Calibri"/>
              </a:rPr>
              <a:t>“As a visitor, I want to register using my mobile number so I can enter the platform securely.”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7333"/>
                </a:solidFill>
                <a:latin typeface="Calibri"/>
              </a:rPr>
              <a:t>ACCEPTANCE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310073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Registration form accepts required fields.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OTP is sent to mobile number.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Account is created only after OTP verification.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1162" y="2606040"/>
            <a:ext cx="364937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1162" y="2606040"/>
            <a:ext cx="3649370" cy="54864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5482" y="2788920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USER STORY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5482" y="3108960"/>
            <a:ext cx="310073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A2540"/>
                </a:solidFill>
                <a:latin typeface="Calibri"/>
              </a:rPr>
              <a:t>“As a seller, I want to complete seller KYC so I can publish sell orders.”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5482" y="4480559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7333"/>
                </a:solidFill>
                <a:latin typeface="Calibri"/>
              </a:rPr>
              <a:t>ACCEPTANCE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5482" y="4800600"/>
            <a:ext cx="310073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Seller role shows pending until admin approval.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System stores uploaded documents.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Admin can approve, reject or request correction.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5124" y="2606040"/>
            <a:ext cx="364937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5124" y="2606040"/>
            <a:ext cx="364937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9444" y="2788920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USER STORY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9444" y="3108960"/>
            <a:ext cx="310073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A2540"/>
                </a:solidFill>
                <a:latin typeface="Calibri"/>
              </a:rPr>
              <a:t>“As an admin, I want a clear KYC review queue so approvals are fast.”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9444" y="4480559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7333"/>
                </a:solidFill>
                <a:latin typeface="Calibri"/>
              </a:rPr>
              <a:t>ACCEPTANCE CRITERIA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9444" y="4800600"/>
            <a:ext cx="310073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Queue shows pending KYCs sorted by submission date.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Admin can approve, reject or request correction.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User receives status update via SMS / platform.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3.2 Functional Requirements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17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3.2.2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Trading &amp; Order — FRs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Functional requirements for buy and sell order management.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73"/>
                <a:gridCol w="2405237"/>
                <a:gridCol w="2104583"/>
                <a:gridCol w="5261457"/>
              </a:tblGrid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FR#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Goal Use Case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Role Players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FR-TRD-01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Create Sell Order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Seller,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Approved sellers create sell orders 24/7 with product, brand, quantity, packaging, technical specs, terms and validity.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FR-TRD-02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Create Buy Order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Buyer,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Approved buyers create buy orders with product, quantity, payment &amp; delivery terms, base target price and validity.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FR-TRD-03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Product-Specific Forms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Open a product-specific technical and commercial form based on selected product category.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FR-TRD-04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Brand Approval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Seller, Admin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Sellers can request a new brand; the order remains pending until admin approval.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FR-TRD-05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Trading Board Display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Publish valid orders to the trading board after checks and notify users by access level.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FR-TRD-06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Order Edit / Cancel Rules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Seller/Buyer,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Allow edits or cancellation based on role, golden grade, matching window and order state.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3.2 Functional Requirements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18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3.2.3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Offer, Auction &amp; Matching — FRs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Functional requirements for offers, auctions and the matching engine.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73"/>
                <a:gridCol w="2405237"/>
                <a:gridCol w="2104583"/>
                <a:gridCol w="5261457"/>
              </a:tblGrid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FR#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Goal Use Case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Role Players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FR-MAT-01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Submit Price Offer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Buyer/Seller,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Submit price, quantity, validity, requested quality guarantee and special purchase/sale conditions.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FR-MAT-02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Open Auction Visibility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Golden or paid users can view competing prices in open auctions based on access policy.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FR-MAT-03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Dark Auction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Hidden bids — users cannot see other offers.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FR-MAT-04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Manual Match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Buyer/Seller,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Seller or buyer can manually match a suitable offer before validity ends.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FR-MAT-05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Automatic 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At expiry, match automatically if offer meets base-price rule; earliest qualifying offer wins on ties.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FR-MAT-06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Partial Match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Allow partial quantity matching above minimum quantity and show remaining quantity on the board.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FR-MAT-07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Cancellation Penalty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Apply guarantee, penalty, loss recovery, grade reduction or trading ban based on rules.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3.2 Functional Requirements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19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3.2.4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Payment, Commission &amp; Settlement — FRs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Financial workflows after a successful match.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73"/>
                <a:gridCol w="2405237"/>
                <a:gridCol w="2104583"/>
                <a:gridCol w="5261457"/>
              </a:tblGrid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FR#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Goal Use Case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Role Players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FR-PAY-01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Calculate Commission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Total platform commission is 5 per thousand, split 40% seller / 60% buyer unless policy changes.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FR-PAY-02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Issue Commission Invoice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Generate system commission invoice and send it to both sides after matching.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FR-PAY-03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Payment Link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Payment Gateway,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Provide payment links for commission and advance payment where required.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FR-PAY-04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Block on Unpaid Commission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Block or restrict accounts when commission is not paid based on policy.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FR-PAY-05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Issue Proforma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Seller,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After commission payment, seller issues system proforma with terms, account number and validity.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FR-PAY-06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Settlement Confirmation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Buyer/Seller,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Buyer confirms payment or credit/LC completion; seller confirms settlement as required.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3.2 Functional Requirements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20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3.2.5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Delivery &amp; Optional Services — FRs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Inspection, transportation, insurance, warehousing and delivery confirmation.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73"/>
                <a:gridCol w="2405237"/>
                <a:gridCol w="2104583"/>
                <a:gridCol w="5261457"/>
              </a:tblGrid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FR#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Goal Use Case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Role Players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FR-SRV-01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Request Inspection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Buyer,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Request quality guarantee or inspection at origin/destination with parameters and service cost.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FR-SRV-02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Request Transportation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Buyer,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Request a logistics quote, pay cost and receive vehicle and driver details.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FR-SRV-03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Request Insurance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Buyer,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Request insurance type, estimated cargo value, pay premium and receive policy document.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FR-SRV-04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Request Warehousing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Buyer,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Request warehouse service, receive cost, pay fee and receive warehouse address.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FR-SRV-05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Delivery Confirmation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Seller/Buyer,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Seller records exact weight and delivery status; system may require bill of lading or buyer confirmation.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3.2 Functional Requirements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21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3.2.6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Complaint, Claim &amp; Grading — FRs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Disputes, evidence, SLAs and the buyer/seller grading system.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73"/>
                <a:gridCol w="2405237"/>
                <a:gridCol w="2104583"/>
                <a:gridCol w="5261457"/>
              </a:tblGrid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FR#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Goal Use Case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Role Players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FR-CLM-01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Submit Complaint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Buyer/Seller, 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Submit complaints for quality, quantity, delivery, payment, document, fraud or service issues.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FR-CLM-02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1-Hour Response SLA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Operator,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Workflow creates an operator task and requires first response within one hour where applicable.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FR-CLM-03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Evidence Collection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Upload documents, photos, invoices, inspection reports, weighbridge tickets and messages.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FR-CLM-04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Complaint Tracking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User, 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Show each complaint stage in the platform until closed.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FR-CLM-05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Grade Impact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Confirmed complaints and violations affect buyer/seller grade.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FR-GRD-01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Seller Grading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Score sellers by KYC, quality, price, delivery, support, financial stability, history and ethics.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FR-GRD-02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Buyer Grading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Score buyers by financial credit, timely payment, conduct, purchase potential, documentation and communication.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3.2 Functional Requirements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22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3.2.7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Website, Analytics &amp; AI — FRs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Free content, paid analysis, AI price prediction and post-trade surveys.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73"/>
                <a:gridCol w="2405237"/>
                <a:gridCol w="2104583"/>
                <a:gridCol w="5261457"/>
              </a:tblGrid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FR#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Goal Use Case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Role Players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FR-WEB-01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Free Website Content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Weekly transaction quantities, FX price, global metal prices, exchange prices, ads, normal analysis and trading time.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FR-WEB-02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Paid Analysis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Sell analysis, customer behaviour analytics, historical prices and AI price prediction to non-golden users.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FR-WEB-03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AI Price Prediction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Predict prices using dollar rate, global metal prices, previous week trades, demand and market data.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FR-WEB-04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Survey Link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Send survey links after matched and unmatched transactions for platform quality and user evaluation.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4. Domain Class Diagram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23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Domain Class List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Nine groups, ~30 classes that model the marketplace.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374903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777240" cy="29260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06040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#01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42616"/>
            <a:ext cx="274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USERS &amp;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17520"/>
            <a:ext cx="33832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A44"/>
                </a:solidFill>
                <a:latin typeface="Calibri"/>
              </a:rPr>
              <a:t>User  ·  Buyer  ·  Seller  ·  Admin  ·  Operator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7" y="2606040"/>
            <a:ext cx="374903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7" y="2606040"/>
            <a:ext cx="777240" cy="292608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7" y="2606040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#02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7" y="2642616"/>
            <a:ext cx="274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KYC &amp; 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7" y="3017520"/>
            <a:ext cx="33832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A44"/>
                </a:solidFill>
                <a:latin typeface="Calibri"/>
              </a:rPr>
              <a:t>KYCRecord  ·  UploadedDocument  ·  BankAccount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4734" y="2606040"/>
            <a:ext cx="374903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74734" y="2606040"/>
            <a:ext cx="777240" cy="292608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4" y="2606040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A2540"/>
                </a:solidFill>
                <a:latin typeface="Calibri"/>
              </a:rPr>
              <a:t>#03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4" y="2642616"/>
            <a:ext cx="274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CATALOGUE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4" y="3017520"/>
            <a:ext cx="33832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A44"/>
                </a:solidFill>
                <a:latin typeface="Calibri"/>
              </a:rPr>
              <a:t>Product  ·  ProductCategory  ·  Brand  ·  ProductSpecification  ·  PackagingStandard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95928"/>
            <a:ext cx="374903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95928"/>
            <a:ext cx="777240" cy="292608"/>
          </a:xfrm>
          <a:prstGeom prst="rect">
            <a:avLst/>
          </a:prstGeom>
          <a:solidFill>
            <a:srgbClr val="2EA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95928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#04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032504"/>
            <a:ext cx="274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TRADING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407408"/>
            <a:ext cx="33832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A44"/>
                </a:solidFill>
                <a:latin typeface="Calibri"/>
              </a:rPr>
              <a:t>Order  ·  BuyOrder  ·  SellOrder  ·  Offer  ·  Auction  ·  MatchingRule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7" y="3995928"/>
            <a:ext cx="374903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5967" y="3995928"/>
            <a:ext cx="777240" cy="29260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15967" y="3995928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#05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7" y="4032504"/>
            <a:ext cx="274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FINANCIAL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7" y="4407408"/>
            <a:ext cx="33832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A44"/>
                </a:solidFill>
                <a:latin typeface="Calibri"/>
              </a:rPr>
              <a:t>Transaction  ·  Invoice  ·  Payment  ·  Commission  ·  Settlement  ·  Delivery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74734" y="3995928"/>
            <a:ext cx="374903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74734" y="3995928"/>
            <a:ext cx="777240" cy="292608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4734" y="3995928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#06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9134" y="4032504"/>
            <a:ext cx="274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DISPUTES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4" y="4407408"/>
            <a:ext cx="33832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A44"/>
                </a:solidFill>
                <a:latin typeface="Calibri"/>
              </a:rPr>
              <a:t>Complaint  ·  Evidence  ·  ComplaintResolution  ·  Penalty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85816"/>
            <a:ext cx="374903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385816"/>
            <a:ext cx="777240" cy="292608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85816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A2540"/>
                </a:solidFill>
                <a:latin typeface="Calibri"/>
              </a:rPr>
              <a:t>#07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422392"/>
            <a:ext cx="274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GRADING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797296"/>
            <a:ext cx="33832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A44"/>
                </a:solidFill>
                <a:latin typeface="Calibri"/>
              </a:rPr>
              <a:t>GradeScore  ·  SellerGradeMetric  ·  BuyerGradeMetric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15967" y="5385816"/>
            <a:ext cx="374903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15967" y="5385816"/>
            <a:ext cx="777240" cy="292608"/>
          </a:xfrm>
          <a:prstGeom prst="rect">
            <a:avLst/>
          </a:prstGeom>
          <a:solidFill>
            <a:srgbClr val="2EA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15967" y="5385816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#08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0367" y="5422392"/>
            <a:ext cx="274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SERVICES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8847" y="5797296"/>
            <a:ext cx="33832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A44"/>
                </a:solidFill>
                <a:latin typeface="Calibri"/>
              </a:rPr>
              <a:t>ServiceRequest  ·  InspectionRequest  ·  LogisticsRequest  ·  InsuranceRequest  ·  WarehouseRequest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74734" y="5385816"/>
            <a:ext cx="374903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74734" y="5385816"/>
            <a:ext cx="777240" cy="29260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74734" y="5385816"/>
            <a:ext cx="777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#09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89134" y="5422392"/>
            <a:ext cx="274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OPS &amp; AUDIT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7614" y="5797296"/>
            <a:ext cx="33832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A44"/>
                </a:solidFill>
                <a:latin typeface="Calibri"/>
              </a:rPr>
              <a:t>Notification  ·  SmsMessage  ·  AuditLog  ·  SurveyResponse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4. Domain Class Diagram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24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Domain Class Diagram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Class relationships across the marketplace domain.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994" y="2743200"/>
            <a:ext cx="9844963" cy="283464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3 — Domain class diagram for the Raw Material Trading Platform.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5. Entity Relationship Diagram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25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5.1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Entity Relationship Diagram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SQL Server schema with relational foreign keys and audit tables.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306" y="2743200"/>
            <a:ext cx="5088339" cy="283464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4 — Entity relationship diagram (SQL Server).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6. System Sequence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26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6.1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Registration &amp; KYC — Sequence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Visitor → System → SMS Provider → Admin handshake.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651760"/>
            <a:ext cx="4572000" cy="324612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9893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5 — Registration and KYC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Visitor submits registration data; system creates a pending account.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OTP is sent through the SMS provider and verified inside a short window.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KYC documents are uploaded and queued for admin review.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Admin approves, rejects or requests correction; the user is notified.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6. System Sequence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27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6.2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Sell Order &amp; Matching — Sequence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From sell order creation to a successful match.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651760"/>
            <a:ext cx="4572000" cy="324612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9893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6 — Create sell order and matching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Approved seller creates a sell order with technical specs and validity.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Buyers submit offers; the trading board reflects state in real time.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Match can be manual (seller picks the offer) or automatic at expiry.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Both parties are notified by SMS / platform notification.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6. System Sequence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28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6.3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Commission, Invoice &amp; Delivery — Sequence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Financial workflow after a match — commission, proforma, settlement.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88" y="2651760"/>
            <a:ext cx="4881383" cy="324612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9893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7 — Commission, invoice and delivery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Platform issues a commission invoice to both sides.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Payment gateway processes commission; unpaid commission can block accounts.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Seller issues system proforma invoice and confirms settlement.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Delivery weight and bill of lading close the transaction.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7. Object State Machine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29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7.1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Order / Transaction State Machine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Lifecycle of an order from draft to completed.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308" y="2651760"/>
            <a:ext cx="1646744" cy="324612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9893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8 — Order / transaction state machine.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Draft → Approval → Published on the trading board.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Offer received → Matched → Commission pending → Delivery pending.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Complaint open → resolved or penalised; otherwise Completed.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Each transition is captured in the AuditLog table.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7. Object State Machine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30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7.2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Complaint State Machine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Lifecycle of a complaint with SLA, evidence and penalty states.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394" y="2651760"/>
            <a:ext cx="4858571" cy="324612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9893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9 — Complaint state machine.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Submitted → Operator assigned within 1 hour SLA.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Evidence collected from buyer, seller, partners and inspection reports.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Resolved, reopened or escalated to penalty / grade reduction.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Confirmed complaints update buyer / seller grade automatically.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8. Technologies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31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8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Technology Stack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Layered architecture from React on the client to SQL Server on the data side.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265"/>
                <a:gridCol w="4099837"/>
                <a:gridCol w="5466449"/>
              </a:tblGrid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Client side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React.js, HTML, CSS, JavaScript / TypeScript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Responsive buyer, seller and admin portals plus the trading board.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ASP.NET Core 10 Web API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REST APIs, controllers, authentication, matching services, business rules.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SQL 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Relational transaction storage, reporting, audit logs, KYC metadata.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JWT, refresh tokens, OTP SMS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Secure login and role-based access.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External Integrations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SMS, payment gateway, KYC APIs, market data APIs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Verification, notifications, payments and price feeds.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AI / Analytics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Python or .NET ML service in later phase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Price prediction, behaviour analytics and fraud signals.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DevOps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GitHub, CI/CD, Docker (optional)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Version control, automated builds and deployment.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A · 9. Project Management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32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9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Project Plan — Part A (Weeks 1–8)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Initial 8-week plan covering requirements, design and core development.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1385"/>
                <a:gridCol w="980395"/>
                <a:gridCol w="980395"/>
                <a:gridCol w="980395"/>
                <a:gridCol w="980395"/>
                <a:gridCol w="980395"/>
                <a:gridCol w="980395"/>
                <a:gridCol w="980395"/>
                <a:gridCol w="980395"/>
              </a:tblGrid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W1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W2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W3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W4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W5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W6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W7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W8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Requirements &amp; client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SRS Part A diagrams &amp; use cases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Architecture &amp; database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Backend API setup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React UI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Trading &amp; matching workflows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Payment, complaints, grading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Testing, final report, presentation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ProjectLabel"/>
          <p:cNvSpPr txBox="1"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PROJECT  ·  RAW MATERIAL TRADING PLATFORM</a:t>
            </a:r>
          </a:p>
        </p:txBody>
      </p:sp>
      <p:sp>
        <p:nvSpPr>
          <p:cNvPr id="5" name="TitleKicker"/>
          <p:cNvSpPr txBox="1"/>
          <p:nvPr/>
        </p:nvSpPr>
        <p:spPr>
          <a:xfrm>
            <a:off x="457200" y="137160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81C"/>
                </a:solidFill>
                <a:latin typeface="Calibri"/>
              </a:rPr>
              <a:t>PART B</a:t>
            </a:r>
          </a:p>
        </p:txBody>
      </p:sp>
      <p:sp>
        <p:nvSpPr>
          <p:cNvPr id="6" name="TitleMain"/>
          <p:cNvSpPr txBox="1"/>
          <p:nvPr/>
        </p:nvSpPr>
        <p:spPr>
          <a:xfrm>
            <a:off x="457200" y="1874519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Software Design Architecture</a:t>
            </a:r>
          </a:p>
        </p:txBody>
      </p:sp>
      <p:sp>
        <p:nvSpPr>
          <p:cNvPr id="7" name="TitleAccentBar"/>
          <p:cNvSpPr/>
          <p:nvPr/>
        </p:nvSpPr>
        <p:spPr>
          <a:xfrm>
            <a:off x="457200" y="324612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Subtitle"/>
          <p:cNvSpPr txBox="1"/>
          <p:nvPr/>
        </p:nvSpPr>
        <p:spPr>
          <a:xfrm>
            <a:off x="457200" y="3383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CBD5E1"/>
                </a:solidFill>
                <a:latin typeface="Calibri"/>
              </a:rPr>
              <a:t>From requirements to a modular design — context diagrams, subsystems, CRC cards, MVC views and the database schema.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988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Requirements Edits to Part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9204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9204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10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Overview Model — CFD &amp; ACD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218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Modularization (4 subsystems)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1500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733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MVC Framework &amp; Detailed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48056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48056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4988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Full Sequence Diagrams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9204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89204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910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State Machine Diagrams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30352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30352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218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Data Layer &amp; Schema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71500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71500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733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Updated Gantt Chart</a:t>
            </a:r>
          </a:p>
        </p:txBody>
      </p:sp>
      <p:sp>
        <p:nvSpPr>
          <p:cNvPr id="33" name="ChromeFooterRight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B81C"/>
                </a:solidFill>
                <a:latin typeface="Calibri"/>
              </a:rPr>
              <a:t>33  /  73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1. Requirements Edits to Part A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34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Requirements Edits to Part A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Refinements applied after the initial review of Part A.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8455914"/>
              </a:tblGrid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Correction / Refinement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Class list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Added service requests, grade scores, notifications, audit logs, product specification, commission, settlement and complaint evidence classes.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Domain diagram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Separated core marketplace concepts: User, Order, Offer, Transaction, Payment, Complaint, GradeScore and ServiceRequest.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ERD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Updated database model for SQL Server with relational foreign keys and transaction-safe entities.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Technology stack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Updated stack from sample to React frontend, .NET Core 10 backend and SQL Server database.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Business rules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Added matching windows, role approval, golden-user access, commission split, penalties and partial match rules.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2.1 Intended Users of the SDD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35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2.1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Intended users of the SDD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Five audiences each find specific design artefacts in this document.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5623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73152" cy="1828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706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DEVELOPERS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Design classes, controllers, services and entities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Sequence flows for the main subsystems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Database schema and migrations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06040"/>
            <a:ext cx="5623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06040"/>
            <a:ext cx="73152" cy="18288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7706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PROJECT MANAGERS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Modular scope and dependencies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Milestones aligned with the Gantt chart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Risk and effort visibility per subsystem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5623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73152" cy="18288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3659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QA TESTERS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Testable flows and state transitions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Acceptance criteria per FR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Sequence diagrams as a basis for integration tests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572000"/>
            <a:ext cx="5623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572000"/>
            <a:ext cx="73152" cy="1828800"/>
          </a:xfrm>
          <a:prstGeom prst="rect">
            <a:avLst/>
          </a:prstGeom>
          <a:solidFill>
            <a:srgbClr val="2EA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73659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ADMIN / OPS / CLIENT REPS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6636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Transaction monitoring and complaint handling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Confirmation that the design supports the business workflow</a:t>
            </a:r>
          </a:p>
          <a:p>
            <a:pPr algn="l">
              <a:lnSpc>
                <a:spcPct val="120000"/>
              </a:lnSpc>
              <a:spcAft>
                <a:spcPts val="180"/>
              </a:spcAft>
            </a:pPr>
            <a:r>
              <a:rPr sz="1100" b="1">
                <a:solidFill>
                  <a:srgbClr val="FFB81C"/>
                </a:solidFill>
                <a:latin typeface="Calibri"/>
              </a:rPr>
              <a:t>■  </a:t>
            </a:r>
            <a:r>
              <a:rPr sz="1100">
                <a:solidFill>
                  <a:srgbClr val="1F2A44"/>
                </a:solidFill>
                <a:latin typeface="Calibri"/>
              </a:rPr>
              <a:t>Operational dashboards and reports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2. Overview Model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36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2.2.1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Updated Context Flow Diagram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Context flow with audit and notifications boundaries clarified.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131" y="2743200"/>
            <a:ext cx="4450690" cy="283464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10 — Updated context flow diagram.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2. Overview Model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37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2.2.2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Architectural Context Diagram (ACD)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How the platform sits between users, gateways and external services.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301" y="2651760"/>
            <a:ext cx="5096758" cy="324612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9893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11 — Architectural Context Diagram (ACD).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React clients hit the .NET Core API behind a JWT-secured gateway.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Adapters isolate the system from SMS, KYC and payment providers.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SQL Server holds transactions; analytics flows to a future ML service.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Audit log records every cross-boundary call.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3. Modularization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38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Four design subsystems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The detailed design groups the platform into four cooperating subsystems.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269587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2695879" cy="11887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21472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B81C"/>
                </a:solidFill>
                <a:latin typeface="Calibri"/>
              </a:rPr>
              <a:t>3.1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80"/>
            <a:ext cx="2147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Login, Registration &amp; KYC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77640"/>
            <a:ext cx="21472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1F2A44"/>
                </a:solidFill>
                <a:latin typeface="Calibri"/>
              </a:rPr>
              <a:t>Login &amp; registration screens, OTP service, KYC upload and review interfaces. Manages User, KYCRecord, BankAccount and Admin actors.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7671" y="2606040"/>
            <a:ext cx="269587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7671" y="2606040"/>
            <a:ext cx="2695879" cy="118872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991" y="2834640"/>
            <a:ext cx="21472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B81C"/>
                </a:solidFill>
                <a:latin typeface="Calibri"/>
              </a:rPr>
              <a:t>3.2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1991" y="3154680"/>
            <a:ext cx="2147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Trading &amp;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1991" y="3977640"/>
            <a:ext cx="21472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1F2A44"/>
                </a:solidFill>
                <a:latin typeface="Calibri"/>
              </a:rPr>
              <a:t>Trading board, sell / buy order forms, offer form and matching service. Operates Order, Offer, Transaction and Notification.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8142" y="2606040"/>
            <a:ext cx="269587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8142" y="2606040"/>
            <a:ext cx="2695879" cy="118872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462" y="2834640"/>
            <a:ext cx="21472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3.3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2" y="3154680"/>
            <a:ext cx="2147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A2540"/>
                </a:solidFill>
                <a:latin typeface="Calibri"/>
              </a:rPr>
              <a:t>Payment, Commission &amp; Invoice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2" y="3977640"/>
            <a:ext cx="21472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1F2A44"/>
                </a:solidFill>
                <a:latin typeface="Calibri"/>
              </a:rPr>
              <a:t>Commission invoice view, payment links, payment confirmation webhook, proforma invoice and settlement status.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38613" y="2606040"/>
            <a:ext cx="269587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8613" y="2606040"/>
            <a:ext cx="2695879" cy="1188720"/>
          </a:xfrm>
          <a:prstGeom prst="rect">
            <a:avLst/>
          </a:prstGeom>
          <a:solidFill>
            <a:srgbClr val="2EA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2933" y="2834640"/>
            <a:ext cx="21472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B81C"/>
                </a:solidFill>
                <a:latin typeface="Calibri"/>
              </a:rPr>
              <a:t>3.4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2933" y="3154680"/>
            <a:ext cx="2147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Complaint &amp; Grading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2933" y="3977640"/>
            <a:ext cx="21472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1F2A44"/>
                </a:solidFill>
                <a:latin typeface="Calibri"/>
              </a:rPr>
              <a:t>Complaint form, dashboard, evidence upload, grade calculator and penalty rules.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3.1 Login, Registration &amp; KYC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39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CRC Cards — Login, Registration &amp; KYC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Class · Responsibility · Collaborators for the KYC subsystem.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978"/>
                <a:gridCol w="5637275"/>
                <a:gridCol w="3523297"/>
              </a:tblGrid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Collaborators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Stores registered individual / company information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KYCRecord, BankAccount, Role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KYCRecord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Tracks identity documents, validation result and approval status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User, Admin, KYC Provider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AuthController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Receives login, register, OTP and password requests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AuthService, UserRepository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KycController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Receives KYC upload and review requests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KycService, DocumentStorage, Admin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3.1 Login, Registration &amp; KYC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40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MVC / Design View — Login &amp; KYC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Models, views and controllers for the KYC subsystem.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908792" cy="835499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3670139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12 — MVC / design view for the KYC subsystem.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3.2 Trading &amp; Matching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41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CRC Cards — Trading &amp; Matching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Class · Responsibility · Collaborators for trading.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308"/>
                <a:gridCol w="5284946"/>
                <a:gridCol w="3523297"/>
              </a:tblGrid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Collaborators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Order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Stores buy or sell demand with product, quantity, price and terms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Product, Offer, Transaction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Offer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Stores buyer/seller submitted price and quantity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Order, User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MatchingService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Applies manual match, auto-match, partial match and expiry rules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Order, Offer, Transaction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TradingController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Exposes order, offer, board and match APIs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TradingService, MatchingService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3.2 Trading &amp; Matching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42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MVC / Design View — Trading &amp; Matching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Models, views and controllers for the trading subsystem.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908792" cy="70358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353822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13 — MVC / design view for trading.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3.3 Payment, Commission &amp; Invoice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43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3.3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CRC Cards — Payment, Commission &amp; Invoice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Class · Responsibility · Collaborators for the financial subsystem.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3224"/>
                <a:gridCol w="5124796"/>
                <a:gridCol w="3416530"/>
              </a:tblGrid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Collaborators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CommissionService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Calculates platform fee and payer split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Transaction, Payment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Payment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Tracks payment type, amount, status and gateway reference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Transaction, User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Invoice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Stores commission invoice and proforma invoice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Transaction, Payment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PaymentGatewayAdapter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Converts platform payment calls into gateway-specific API calls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Payment Gateway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3.3 Payment, Commission &amp; Invoice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44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3.3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MVC / Design View — Payment &amp; Invoice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Models, views and controllers for the payment subsystem.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908792" cy="740634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3575274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14 — MVC / design view for payment &amp; invoice.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3.4 Complaint &amp; Grading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45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3.4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CRC Cards — Complaint &amp; Grading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Class · Responsibility · Collaborators for disputes.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2835"/>
                <a:gridCol w="5305671"/>
                <a:gridCol w="3316044"/>
              </a:tblGrid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Collaborators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Complaint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Tracks category, evidence, status, assignment and resolution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Transaction, User,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GradeScore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Stores buyer/seller scoring dimensions and final grade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User, Complaint, Transaction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ComplaintService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Manages complaint workflow and first-response SLA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Complaint, Operator, Partner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GradeService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Calculates manual and automatic grade scores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GradeScore, Transaction, Complaint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3.4 Complaint &amp; Grading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46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3.4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Design View — Complaint State &amp; Grade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Complaint state and grade design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128" y="2743200"/>
            <a:ext cx="4242696" cy="283464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15 — Complaint state and grade design view.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4. MVC Framework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47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MVC Framework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Same MVC pattern applied consistently across the three core subsystems.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364937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3649370" cy="8229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310073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81C"/>
                </a:solidFill>
                <a:latin typeface="Calibri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310073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F2A44"/>
                </a:solidFill>
                <a:latin typeface="Calibri"/>
              </a:rPr>
              <a:t>Domain entities, services and repositories. Pure business rules — Order, Offer, Matching, Commission, Complaint.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1162" y="2606040"/>
            <a:ext cx="364937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1162" y="2606040"/>
            <a:ext cx="3649370" cy="82296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5482" y="2788920"/>
            <a:ext cx="310073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81C"/>
                </a:solidFill>
                <a:latin typeface="Calibri"/>
              </a:rPr>
              <a:t>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5482" y="3657600"/>
            <a:ext cx="310073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F2A44"/>
                </a:solidFill>
                <a:latin typeface="Calibri"/>
              </a:rPr>
              <a:t>React pages and components — login, KYC, trading board, complaint panel, admin dashboard, analytics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5124" y="2606040"/>
            <a:ext cx="364937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5124" y="2606040"/>
            <a:ext cx="3649370" cy="82296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9444" y="2788920"/>
            <a:ext cx="310073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A2540"/>
                </a:solidFill>
                <a:latin typeface="Calibri"/>
              </a:rPr>
              <a:t>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9444" y="3657600"/>
            <a:ext cx="310073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F2A44"/>
                </a:solidFill>
                <a:latin typeface="Calibri"/>
              </a:rPr>
              <a:t>ASP.NET Core 10 controllers — receive requests, validate authorisation, call services and return DTOs.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A6C7D"/>
                </a:solidFill>
                <a:latin typeface="Calibri"/>
              </a:rPr>
              <a:t>Each subsystem is documented as an MVC view in the next slides — Login &amp; KYC · Trading &amp; Matching · Payment &amp; Commission.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4.1 MVC Pattern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48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4.1.1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Login &amp; KYC Subsystem — MVC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Detailed MVC view for KYC.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908792" cy="835499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3670139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16 — Login &amp; KYC subsystem MVC.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4.1 MVC Pattern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49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4.1.2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Trading &amp; Matching Subsystem — MVC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Detailed MVC view for trading and matching.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908792" cy="70358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353822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17 — Trading &amp; matching subsystem MVC.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4.1 MVC Pattern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50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4.1.3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Payment &amp; Commission Subsystem — MVC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Detailed MVC view for payment and commission.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908792" cy="740634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3575274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18 — Payment &amp; commission subsystem MVC.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4.2 Full Sequence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51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4.2.1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Full KYC Approval Sequence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End-to-end sequence diagram for KYC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651760"/>
            <a:ext cx="4572000" cy="324612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9893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19 — Full KYC approval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Visitor signs up; OTP verifies the mobile.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KYC documents stored with metadata in KYCRecords table.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Admin reviews, requests correction, rejects or approves.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Bank account is verified via the KYC provider.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4.2 Full Sequence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52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4.2.2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Full Trading Match Sequence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End-to-end sequence diagram from order to match.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651760"/>
            <a:ext cx="4572000" cy="324612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9893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20 — Full trading match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Order published only after validation and brand approval.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Buyers submit offers — open or dark auction visibility applies.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Match strategy chosen by order type (manual / auto / partial).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Notification fan-out informs both sides immediately.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4.2 Full Sequence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53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4.2.3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Full Payment &amp; Delivery Sequence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End-to-end sequence diagram for the financial workflow.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88" y="2651760"/>
            <a:ext cx="4881383" cy="324612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9893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21 — Full payment &amp; delivery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Commission invoice issued automatically after match.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Payment gateway adapter abstracts gateway-specific calls.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Proforma issued by seller after commission settled.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Delivery weight and bill of lading close the transaction.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4.3 State Machine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54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4.3.1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Order &amp; Transaction State Machine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Detailed lifecycle of orders and transactions.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475" y="2743200"/>
            <a:ext cx="1438001" cy="283464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22 — Order &amp; transaction state machine.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4.3 State Machine Diagrams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55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4.3.2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Complaint State Machine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Detailed lifecycle of a complaint, evidence and resolution.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128" y="2743200"/>
            <a:ext cx="4242696" cy="283464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23 — Complaint state machine.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5. Data Layer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56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5.1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Database Schema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Core SQL Server tables and key columns.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791"/>
                <a:gridCol w="5228777"/>
                <a:gridCol w="4084982"/>
              </a:tblGrid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Important Columns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UserId, RoleId, FullName, Mobile, Email, NationalCode, UserType, 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Main identity table for individuals and companies.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KYCRecords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KycId, UserId, KycType, Status, ReviewedBy, ReviewNote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Tracks KYC workflow and review result.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ProductId, CategoryId, BrandId, TechnicalSpecJson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Supports product-specific forms and technical data.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OrderId, CreatedByUserId, ProductId, OrderType, Quantity, BasePrice, ValidUntil, Status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Core buy/sell order record.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Offers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OfferId, OrderId, OfferedByUserId, Price, Quantity, 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Submitted bids and offers.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Transactions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TransactionId, OrderId, BuyerId, SellerId, MatchedPrice, MatchedQuantity, Status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Created after a match.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PaymentId, TransactionId, PayerId, Amount, PaymentType, 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Commission and advance payments.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Complaints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ComplaintId, TransactionId, OpenedByUserId, Category, Status, Resolution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Claim workflow.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0341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GradeScores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GradeId, UserId, QualityScore, FinanceScore, DeliveryScore, FinalGrade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Buyer and seller grade model.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34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A2540"/>
                          </a:solidFill>
                          <a:latin typeface="Calibri"/>
                        </a:rPr>
                        <a:t>AuditLogs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AuditLogId, UserId, Action, EntityName, EntityId, CreatedAt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44"/>
                          </a:solidFill>
                          <a:latin typeface="Calibri"/>
                        </a:rPr>
                        <a:t>Traceability and security.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5. Data Layer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57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5.1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Database Schema ERD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Tables, keys and relationships for the SQL Server schema.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306" y="2743200"/>
            <a:ext cx="5088339" cy="2834640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24 — Database schema ERD.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5. Data Layer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58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5.2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Updated Technology List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Mapping from the original sample stack to the project's technology choices.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8455914"/>
              </a:tblGrid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Original Sample Area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Updated Technology for This Project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A2540"/>
                          </a:solidFill>
                          <a:latin typeface="Calibri"/>
                        </a:rPr>
                        <a:t>Client side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1F2A44"/>
                          </a:solidFill>
                          <a:latin typeface="Calibri"/>
                        </a:rPr>
                        <a:t>React.js, TypeScript optional, HTML, CSS, responsive components.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A2540"/>
                          </a:solidFill>
                          <a:latin typeface="Calibri"/>
                        </a:rPr>
                        <a:t>Business logic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1F2A44"/>
                          </a:solidFill>
                          <a:latin typeface="Calibri"/>
                        </a:rPr>
                        <a:t>ASP.NET Core 10 Web API, C#, dependency injection, layered architecture.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A2540"/>
                          </a:solidFill>
                          <a:latin typeface="Calibri"/>
                        </a:rPr>
                        <a:t>Data side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1F2A44"/>
                          </a:solidFill>
                          <a:latin typeface="Calibri"/>
                        </a:rPr>
                        <a:t>SQL Server, Entity Framework Core, migrations, indexed relational tables.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A2540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1F2A44"/>
                          </a:solidFill>
                          <a:latin typeface="Calibri"/>
                        </a:rPr>
                        <a:t>JWT, refresh token, OTP, RBAC, audit logging, secure file storage.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A2540"/>
                          </a:solidFill>
                          <a:latin typeface="Calibri"/>
                        </a:rPr>
                        <a:t>Integrations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1F2A44"/>
                          </a:solidFill>
                          <a:latin typeface="Calibri"/>
                        </a:rPr>
                        <a:t>Payment gateway adapter, SMS provider, KYC API adapter, market data API adapter.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B · 6. Gantt Chart Update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59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6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Project Plan — Part B (Weeks 3–8)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Software design tasks layered on top of the Part A plan.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4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3782"/>
                <a:gridCol w="1186794"/>
                <a:gridCol w="1186794"/>
                <a:gridCol w="1186794"/>
                <a:gridCol w="1186794"/>
                <a:gridCol w="1186794"/>
                <a:gridCol w="1186794"/>
              </a:tblGrid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Part B Task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W3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W4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W5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W6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W7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W8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Update Part A requirements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Create architecture context diagram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Design modules &amp; CRC cards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Design MVC diagrams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Create full sequence / state diagrams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Design database schema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Review and correction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ProjectLabel"/>
          <p:cNvSpPr txBox="1"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PROJECT  ·  RAW MATERIAL TRADING PLATFORM</a:t>
            </a:r>
          </a:p>
        </p:txBody>
      </p:sp>
      <p:sp>
        <p:nvSpPr>
          <p:cNvPr id="5" name="TitleKicker"/>
          <p:cNvSpPr txBox="1"/>
          <p:nvPr/>
        </p:nvSpPr>
        <p:spPr>
          <a:xfrm>
            <a:off x="457200" y="137160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81C"/>
                </a:solidFill>
                <a:latin typeface="Calibri"/>
              </a:rPr>
              <a:t>PART C</a:t>
            </a:r>
          </a:p>
        </p:txBody>
      </p:sp>
      <p:sp>
        <p:nvSpPr>
          <p:cNvPr id="6" name="TitleMain"/>
          <p:cNvSpPr txBox="1"/>
          <p:nvPr/>
        </p:nvSpPr>
        <p:spPr>
          <a:xfrm>
            <a:off x="457200" y="1874519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System Design Document</a:t>
            </a:r>
          </a:p>
        </p:txBody>
      </p:sp>
      <p:sp>
        <p:nvSpPr>
          <p:cNvPr id="7" name="TitleAccentBar"/>
          <p:cNvSpPr/>
          <p:nvPr/>
        </p:nvSpPr>
        <p:spPr>
          <a:xfrm>
            <a:off x="457200" y="324612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Subtitle"/>
          <p:cNvSpPr txBox="1"/>
          <p:nvPr/>
        </p:nvSpPr>
        <p:spPr>
          <a:xfrm>
            <a:off x="457200" y="3383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CBD5E1"/>
                </a:solidFill>
                <a:latin typeface="Calibri"/>
              </a:rPr>
              <a:t>Patterns, UI/UX, deployment, business rules and APIs that complete the system design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988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Corrections to Part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9204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9204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10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Software Design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218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UI / UX 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1500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733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High-Level Component / 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48056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48056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4988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Updated Gantt Chart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9204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89204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910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Business Rules (Appendix)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303520"/>
            <a:ext cx="411480" cy="292608"/>
          </a:xfrm>
          <a:prstGeom prst="roundRect">
            <a:avLst>
              <a:gd name="adj" fmla="val 30000"/>
            </a:avLst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303520"/>
            <a:ext cx="411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218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API Endpoints (Appendix)</a:t>
            </a:r>
          </a:p>
        </p:txBody>
      </p:sp>
      <p:sp>
        <p:nvSpPr>
          <p:cNvPr id="30" name="ChromeFooterRight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B81C"/>
                </a:solidFill>
                <a:latin typeface="Calibri"/>
              </a:rPr>
              <a:t>60  /  73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C · 1. Corrections to Part B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61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Corrections to Part B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Adjustments applied after the second design review.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8455914"/>
              </a:tblGrid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Correction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MVC controllers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Controllers only receive requests, validate authorisation, call application services and return DTOs. Business rules stay in services / domain.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Payment module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Added adapter boundary so payment gateway can change without changing domain logic.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Order 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Added explicit states: draft, approval, published, offer received, matched, commission pending, delivery pending, complaint open, completed and penalised.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Complaint flow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Added evidence collection, partner review, SLA response, reopen and penalty states.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Data layer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Added audit logs, service requests and grade score tables for operational traceability.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C · 2. Software Design Patterns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62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Four design patterns drive the architecture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Each pattern solves a specific maintainability or extensibility problem.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2788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278892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889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81C"/>
                </a:solidFill>
                <a:latin typeface="Calibri"/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Order &amp; complaint lifecycles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A44"/>
                </a:solidFill>
                <a:latin typeface="Calibri"/>
              </a:rPr>
              <a:t>Replaces nested if/else with explicit state objects for clear, safe transitions.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2606040"/>
            <a:ext cx="2788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55848" y="2606040"/>
            <a:ext cx="2788920" cy="9144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27889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81C"/>
                </a:solidFill>
                <a:latin typeface="Calibri"/>
              </a:rPr>
              <a:t>ADAPTER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365760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External service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429768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A44"/>
                </a:solidFill>
                <a:latin typeface="Calibri"/>
              </a:rPr>
              <a:t>Wraps SMS, KYC, payment and market-data providers behind common interfaces.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4496" y="2606040"/>
            <a:ext cx="2788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4496" y="2606040"/>
            <a:ext cx="2788920" cy="9144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27889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A2540"/>
                </a:solidFill>
                <a:latin typeface="Calibri"/>
              </a:rPr>
              <a:t>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65760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Data access abstraction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429768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A44"/>
                </a:solidFill>
                <a:latin typeface="Calibri"/>
              </a:rPr>
              <a:t>Hides Entity Framework details; improves testability and separation of concerns.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53144" y="2606040"/>
            <a:ext cx="2788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53144" y="2606040"/>
            <a:ext cx="2788920" cy="914400"/>
          </a:xfrm>
          <a:prstGeom prst="rect">
            <a:avLst/>
          </a:prstGeom>
          <a:solidFill>
            <a:srgbClr val="2EA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1744" y="27889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81C"/>
                </a:solidFill>
                <a:latin typeface="Calibri"/>
              </a:rPr>
              <a:t>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365760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Auction &amp; matching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429768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A44"/>
                </a:solidFill>
                <a:latin typeface="Calibri"/>
              </a:rPr>
              <a:t>Selects matching strategy by order type — open, dark, base price, partial, golden.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C · 2. State Pattern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63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2.1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State Pattern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Pattern context, problem, solution and trade-offs.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3840480" cy="36576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B81C"/>
                </a:solidFill>
                <a:latin typeface="Calibri"/>
              </a:rPr>
              <a:t>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3840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FB81C"/>
                </a:solidFill>
                <a:latin typeface="Calibri"/>
              </a:rPr>
              <a:t>Lifecycle made explicit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434840" y="2606040"/>
          <a:ext cx="7296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559552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Order and complaint lifecycles contain many states and transitions. If implemented with nested if/else, code becomes difficult to maintain.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Create separate state logic for order and complaint statuses. The service changes allowed actions based on current state.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Benefits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Clear lifecycle rules, easier testing, safer transitions.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Consequences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More classes and mappings are required.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C · 2. Adapter Pattern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64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2.2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Adapter Pattern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Pattern context, problem, solution and trade-offs.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3840480" cy="36576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B81C"/>
                </a:solidFill>
                <a:latin typeface="Calibri"/>
              </a:rPr>
              <a:t>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3840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Adapter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FB81C"/>
                </a:solidFill>
                <a:latin typeface="Calibri"/>
              </a:rPr>
              <a:t>Decouples external services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434840" y="2606040"/>
          <a:ext cx="7296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559552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Payment gateways, SMS providers, KYC APIs and market-data APIs may have different interfaces; direct dependency makes future changes expensive.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Create adapters such as IPaymentGatewayAdapter, ISmsProviderAdapter, IKycProviderAdapter and IMarketDataAdapter.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Benefits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External services can be replaced with minimal business-logic changes.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Consequences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Adds an extra abstraction layer.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C · 2. Repository Pattern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65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2.3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Repository Pattern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Pattern context, problem, solution and trade-offs.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3840480" cy="3657600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B81C"/>
                </a:solidFill>
                <a:latin typeface="Calibri"/>
              </a:rPr>
              <a:t>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3840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A2540"/>
                </a:solidFill>
                <a:latin typeface="Calibri"/>
              </a:rPr>
              <a:t>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FB81C"/>
                </a:solidFill>
                <a:latin typeface="Calibri"/>
              </a:rPr>
              <a:t>Hides persistence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434840" y="2606040"/>
          <a:ext cx="7296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559552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The application should not depend directly on Entity Framework queries everywhere.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Create repositories or query services for Users, Orders, Offers, Transactions, Payments, Complaints and Grades.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Benefits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Improves testability and separates persistence concerns.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Consequences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Can be unnecessary for very simple CRUD if overused.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C · 2. Strategy Pattern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66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2.4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Strategy Pattern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Pattern context, problem, solution and trade-offs.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3840480" cy="3657600"/>
          </a:xfrm>
          <a:prstGeom prst="rect">
            <a:avLst/>
          </a:prstGeom>
          <a:solidFill>
            <a:srgbClr val="2EA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B81C"/>
                </a:solidFill>
                <a:latin typeface="Calibri"/>
              </a:rPr>
              <a:t>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3840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FB81C"/>
                </a:solidFill>
                <a:latin typeface="Calibri"/>
              </a:rPr>
              <a:t>Pluggable algorithms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434840" y="2606040"/>
          <a:ext cx="7296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559552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Different auction types and matching rules are required: open auction, dark auction, base price, no-base-price, partial match and golden-user rules.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Create matching strategies implementing a common interface and select the correct strategy based on order type.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Benefits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New auction rules can be added without changing the whole matching engine.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Consequences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Requires careful selection and configuration of strategies.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C · 3. UI / UX Design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67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UI / UX Screen Design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Nine core screens map directly to the marketplace workflow.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773"/>
                <a:gridCol w="5175204"/>
                <a:gridCol w="3696574"/>
              </a:tblGrid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Screen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Main Elements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Login &amp; Registration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Login form, register form, OTP input, password reset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Secure account entry and first registration.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KYC Upload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Identity / company fields, document upload, bank account, status tracker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Complete verification before trading.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Buyer Dashboard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Trading board, buy orders, offers, price analysis, service requests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Buyer workflow control.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Seller Dashboard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 order form, product technical form, offers received, match button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Seller workflow control.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Trading 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Filters, product list, quantity, price range, auction type, validity countdown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Central market view.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Commission / Invoice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Commission invoice, payment link, proforma, payment status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Financial workflow after match.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Complaint Panel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Complaint category, evidence upload, status timeline, operator messages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Dispute handling and transparency.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Admin Dashboard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KYC queue, brand approval, order monitoring, complaint queue, user grades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Operational control.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Analytics Page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Free prices, paid analysis, AI prediction, historical prices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Inform users and create premium revenue.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C · 3. UI / UX Design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68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3.1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UI / UX Wireframe Principles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Design decisions that keep complex workflows simple for traders.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1127455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724912"/>
            <a:ext cx="411480" cy="411480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24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70632"/>
            <a:ext cx="103144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Calibri"/>
              </a:rPr>
              <a:t>Login and registration use mobile number, OTP verification and clear user-type selection.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19272"/>
            <a:ext cx="1127455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483864"/>
            <a:ext cx="103144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Calibri"/>
              </a:rPr>
              <a:t>KYC pages show progress steps: basic profile, documents, bank account, submitted, under review, approved or rejected.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32504"/>
            <a:ext cx="1127455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151376"/>
            <a:ext cx="411480" cy="411480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5137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197096"/>
            <a:ext cx="103144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Calibri"/>
              </a:rPr>
              <a:t>Trading board shows status labels, validity countdown, product filters and role-based action buttons.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45736"/>
            <a:ext cx="1127455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4864608"/>
            <a:ext cx="411480" cy="411480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646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910328"/>
            <a:ext cx="103144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Calibri"/>
              </a:rPr>
              <a:t>Order forms are dynamic: selecting a product opens the correct technical and commercial fields.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58968"/>
            <a:ext cx="1127455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5577840"/>
            <a:ext cx="411480" cy="411480"/>
          </a:xfrm>
          <a:prstGeom prst="ellipse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5778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623560"/>
            <a:ext cx="103144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A44"/>
                </a:solidFill>
                <a:latin typeface="Calibri"/>
              </a:rPr>
              <a:t>Complaint panel uses a timeline view to reduce support calls and increase trust.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C · 4. Deployment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69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4.1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High-Level Component / Deployment Diagram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How the platform is deployed across client, server, data and integration tiers.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680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_diagram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51760"/>
            <a:ext cx="7406640" cy="2842004"/>
          </a:xfrm>
          <a:prstGeom prst="rect">
            <a:avLst/>
          </a:prstGeom>
        </p:spPr>
      </p:pic>
      <p:sp>
        <p:nvSpPr>
          <p:cNvPr id="16" name="ImageCaption"/>
          <p:cNvSpPr txBox="1"/>
          <p:nvPr/>
        </p:nvSpPr>
        <p:spPr>
          <a:xfrm>
            <a:off x="594360" y="5585204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alibri"/>
              </a:rPr>
              <a:t>Figure 25 — High-level component / deployment diagram.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413455" cy="35204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864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286481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React SPA served from CDN; talks to ASP.NET Core API over HTTPS.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Azure / on-prem SQL Server hosts relational data with daily backups.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Adapters route to SMS, KYC and payment providers — replaceable.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b="1" sz="1300">
                <a:solidFill>
                  <a:srgbClr val="FFB81C"/>
                </a:solidFill>
              </a:rPr>
              <a:t>›  </a:t>
            </a:r>
            <a:r>
              <a:rPr sz="1200">
                <a:solidFill>
                  <a:srgbClr val="E2E8F0"/>
                </a:solidFill>
              </a:rPr>
              <a:t>Optional ML service for AI price prediction in a later phase.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Part C · 5. Gantt Chart Update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70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5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Project Plan — Part C (Weeks 6–10)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Final tasks for patterns, UI/UX, deployment and submission.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4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2462"/>
                <a:gridCol w="1326417"/>
                <a:gridCol w="1326417"/>
                <a:gridCol w="1326417"/>
                <a:gridCol w="1326417"/>
                <a:gridCol w="1326417"/>
              </a:tblGrid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Part C Task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W6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W7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W8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W9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B81C"/>
                          </a:solidFill>
                          <a:latin typeface="Calibri"/>
                        </a:rPr>
                        <a:t>W10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Design pattern documentation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UI/UX screen descriptions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Deployment diagram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Database correction &amp; final review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2540"/>
                          </a:solidFill>
                          <a:latin typeface="Calibri"/>
                        </a:rPr>
                        <a:t>Final formatting and submission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Appendix A · Business Rules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71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APPENDIX A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Important Business Rules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Marketplace policies that govern matching, cancellation, commission and disputes.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17"/>
                <a:gridCol w="8590134"/>
              </a:tblGrid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Rule Area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Business Rule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Matching window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Matching operates during defined business hours such as 9:00–17:00. Orders may be submitted 24/7.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Seller cancellation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Seller cannot cancel during matching window except based on configured grade and penalty rules.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Golden users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Golden buyers / sellers have extra visibility and flexibility; non-golden users may pay for premium access.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Presale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Presale may require buyer grade 1 or additional guarantee and has delivery time and tonnage limits.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Credit sale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Credit / LC sales are visible or available only to qualified or golden buyers.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Commission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Default commission is 5 per thousand, split 40% seller and 60% buyer.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Unpaid commission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Unpaid commission can block or restrict the user account.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Partial match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If accepted quantity is less than total but above minimum, remaining quantity is shown or cancelled by rules.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Tolerance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Weight tolerance must be clearly defined. Higher disagreement triggers third-party weighing and complaint process.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Disintermediation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Users attempting behind-the-scenes transactions outside the platform can be blocked or penalised.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5673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Chat restrictions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Chat blocks phone numbers and prohibited contact-sharing content.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67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2540"/>
                          </a:solidFill>
                          <a:latin typeface="Calibri"/>
                        </a:rPr>
                        <a:t>Disclaimer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Platform is not responsible for quality, storage, insurance or logistics unless a specific service contract is active.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BrandMark"/>
          <p:cNvSpPr/>
          <p:nvPr/>
        </p:nvSpPr>
        <p:spPr>
          <a:xfrm>
            <a:off x="411480" y="3200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BrandText"/>
          <p:cNvSpPr txBox="1"/>
          <p:nvPr/>
        </p:nvSpPr>
        <p:spPr>
          <a:xfrm>
            <a:off x="411480" y="320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RM</a:t>
            </a:r>
          </a:p>
        </p:txBody>
      </p:sp>
      <p:sp>
        <p:nvSpPr>
          <p:cNvPr id="6" name="ChromeProjectLabel"/>
          <p:cNvSpPr txBox="1"/>
          <p:nvPr/>
        </p:nvSpPr>
        <p:spPr>
          <a:xfrm>
            <a:off x="7498079" y="365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5A6C7D"/>
                </a:solidFill>
                <a:latin typeface="Calibri"/>
              </a:rPr>
              <a:t>RAW MATERIAL TRADING PLATFORM</a:t>
            </a:r>
          </a:p>
        </p:txBody>
      </p:sp>
      <p:sp>
        <p:nvSpPr>
          <p:cNvPr id="7" name="ChromeFooterLine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FooterLeft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Appendix B · API Endpoints</a:t>
            </a:r>
          </a:p>
        </p:txBody>
      </p:sp>
      <p:sp>
        <p:nvSpPr>
          <p:cNvPr id="9" name="ChromeFooterRight"/>
          <p:cNvSpPr txBox="1"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alibri"/>
              </a:rPr>
              <a:t>72  /  73</a:t>
            </a:r>
          </a:p>
        </p:txBody>
      </p:sp>
      <p:sp>
        <p:nvSpPr>
          <p:cNvPr id="10" name="TitleKicker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B81C"/>
                </a:solidFill>
                <a:latin typeface="Calibri"/>
              </a:rPr>
              <a:t>APPENDIX B</a:t>
            </a:r>
          </a:p>
        </p:txBody>
      </p:sp>
      <p:sp>
        <p:nvSpPr>
          <p:cNvPr id="11" name="TitleMain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Suggested API Endpoints</a:t>
            </a:r>
          </a:p>
        </p:txBody>
      </p:sp>
      <p:sp>
        <p:nvSpPr>
          <p:cNvPr id="12" name="TitleAccentBar"/>
          <p:cNvSpPr/>
          <p:nvPr/>
        </p:nvSpPr>
        <p:spPr>
          <a:xfrm>
            <a:off x="457200" y="182880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Subtitle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7D"/>
                </a:solidFill>
                <a:latin typeface="Calibri"/>
              </a:rPr>
              <a:t>Reference list of REST endpoints exposed by the .NET Core 10 backend.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06040"/>
          <a:ext cx="1127455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546"/>
                <a:gridCol w="4336366"/>
                <a:gridCol w="5203639"/>
              </a:tblGrid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81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POST /api/auth/register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Create account and send OTP.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POST /api/auth/login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Login and return JWT.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KYC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POST /api/kyc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Submit KYC profile and documents.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PUT /api/admin/kyc/{id}/approve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Approve or reject KYC.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POST /api/orders/sell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Create sell order.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POST /api/orders/buy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Create buy order.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Trading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GET /api/trading-board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List visible orders based on role / access.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Offers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POST /api/orders/{id}/offers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Submit offer.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Matching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POST /api/orders/{id}/match/{offerId}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Manually match an offer.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POST /api/payments/commission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Create commission payment.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Complaints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POST /api/complaints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Open complaint.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39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Grades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GET /api/grades/{userId}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View user grade based on access rules.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23839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A2540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GET /api/analytics/price-prediction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A44"/>
                          </a:solidFill>
                          <a:latin typeface="Calibri"/>
                        </a:rPr>
                        <a:t>Return AI price prediction for selected product.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ProjectLabel"/>
          <p:cNvSpPr txBox="1"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B81C"/>
                </a:solidFill>
                <a:latin typeface="Calibri"/>
              </a:rPr>
              <a:t>PROJECT  ·  RAW MATERIAL TRADING PLATFORM</a:t>
            </a:r>
          </a:p>
        </p:txBody>
      </p:sp>
      <p:sp>
        <p:nvSpPr>
          <p:cNvPr id="5" name="TitleKicker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81C"/>
                </a:solidFill>
                <a:latin typeface="Calibri"/>
              </a:rPr>
              <a:t>WRAP UP</a:t>
            </a:r>
          </a:p>
        </p:txBody>
      </p:sp>
      <p:sp>
        <p:nvSpPr>
          <p:cNvPr id="6" name="TitleMain"/>
          <p:cNvSpPr txBox="1"/>
          <p:nvPr/>
        </p:nvSpPr>
        <p:spPr>
          <a:xfrm>
            <a:off x="457200" y="192024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7" name="TitleAccentBar"/>
          <p:cNvSpPr/>
          <p:nvPr/>
        </p:nvSpPr>
        <p:spPr>
          <a:xfrm>
            <a:off x="457200" y="3840480"/>
            <a:ext cx="594360" cy="54864"/>
          </a:xfrm>
          <a:prstGeom prst="rect">
            <a:avLst/>
          </a:prstGeom>
          <a:solidFill>
            <a:srgbClr val="FFB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Subtitle"/>
          <p:cNvSpPr txBox="1"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CBD5E1"/>
                </a:solidFill>
                <a:latin typeface="Calibri"/>
              </a:rPr>
              <a:t>A trustworthy, transparent and digitally controlled marketplace for industrial raw materials.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B81C"/>
                </a:solidFill>
                <a:latin typeface="Calibri"/>
              </a:rPr>
              <a:t>Questions and discussion welcome.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.NET Core 10  ·  React.js  ·  SQL Server  ·  JWT + OTP  ·  EF Core  ·  Adapter-based integrations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B81C"/>
                </a:solidFill>
                <a:latin typeface="Calibri"/>
              </a:rPr>
              <a:t>Prepared by Reza  ·  Version 0.01</a:t>
            </a:r>
          </a:p>
        </p:txBody>
      </p:sp>
      <p:sp>
        <p:nvSpPr>
          <p:cNvPr id="12" name="ChromeFooterRight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B81C"/>
                </a:solidFill>
                <a:latin typeface="Calibri"/>
              </a:rPr>
              <a:t>73  /  73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p159:dur="1500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